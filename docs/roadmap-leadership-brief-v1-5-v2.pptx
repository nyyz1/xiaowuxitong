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3447"/>
          </a:solidFill>
        </p:spPr>
      </p:sp>
      <p:sp>
        <p:nvSpPr>
          <p:cNvPr id="3" name="cover-paper-band"/>
          <p:cNvSpPr>
            <a:spLocks noGrp="1"/>
          </p:cNvSpPr>
          <p:nvPr/>
        </p:nvSpPr>
        <p:spPr>
          <a:xfrm>
            <a:off x="0" y="0"/>
            <a:ext cx="112395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762000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5850" y="876300"/>
            <a:ext cx="11811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建议稿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468600" y="857250"/>
            <a:ext cx="1905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D8E8E1"/>
                </a:solidFill>
              </a:defRPr>
            </a:pPr>
            <a:r>
              <a:rPr sz="1500" b="0" i="0">
                <a:solidFill>
                  <a:srgbClr val="D8E8E1"/>
                </a:solidFill>
              </a:rPr>
              <a:t>面向学校领导决策汇报</a:t>
            </a:r>
            <a:endParaRPr sz="1500" b="0" i="0">
              <a:solidFill>
                <a:srgbClr val="D8E8E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543050"/>
            <a:ext cx="2710815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 i="0">
                <a:solidFill>
                  <a:srgbClr val="C96A3A"/>
                </a:solidFill>
              </a:defRPr>
            </a:pPr>
            <a:r>
              <a:rPr sz="3450" b="1" i="0">
                <a:solidFill>
                  <a:srgbClr val="C96A3A"/>
                </a:solidFill>
              </a:rPr>
              <a:t>校务系统</a:t>
            </a:r>
            <a:endParaRPr sz="3450" b="1" i="0">
              <a:solidFill>
                <a:srgbClr val="C96A3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286000"/>
            <a:ext cx="898017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450" b="1" i="0">
                <a:solidFill>
                  <a:srgbClr val="123447"/>
                </a:solidFill>
              </a:defRPr>
            </a:pPr>
            <a:r>
              <a:rPr sz="6450" b="1" i="0">
                <a:solidFill>
                  <a:srgbClr val="123447"/>
                </a:solidFill>
              </a:rPr>
              <a:t>下一阶段建设路线</a:t>
            </a:r>
            <a:endParaRPr sz="6450" b="1" i="0">
              <a:solidFill>
                <a:srgbClr val="12344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467100"/>
            <a:ext cx="5314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355161"/>
                </a:solidFill>
              </a:defRPr>
            </a:pPr>
            <a:r>
              <a:rPr sz="2250" b="0" i="0">
                <a:solidFill>
                  <a:srgbClr val="355161"/>
                </a:solidFill>
              </a:rPr>
              <a:t>V1.5 / V2 / 暂缓功能路线图与两周冲刺建议</a:t>
            </a:r>
            <a:endParaRPr sz="2250" b="0" i="0">
              <a:solidFill>
                <a:srgbClr val="355161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7448550"/>
            <a:ext cx="3429000" cy="1428750"/>
          </a:xfrm>
          <a:prstGeom prst="roundRect">
            <a:avLst>
              <a:gd name="adj" fmla="val 18667"/>
            </a:avLst>
          </a:prstGeom>
          <a:solidFill>
            <a:srgbClr val="173F54"/>
          </a:solidFill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7658100"/>
            <a:ext cx="2933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BFD5CE"/>
                </a:solidFill>
              </a:defRPr>
            </a:pPr>
            <a:r>
              <a:rPr sz="1500" b="0" i="0">
                <a:solidFill>
                  <a:srgbClr val="BFD5CE"/>
                </a:solidFill>
              </a:rPr>
              <a:t>当前基础</a:t>
            </a:r>
            <a:endParaRPr sz="1500" b="0" i="0">
              <a:solidFill>
                <a:srgbClr val="BFD5C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7962900"/>
            <a:ext cx="2933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DF7"/>
                </a:solidFill>
              </a:defRPr>
            </a:pPr>
            <a:r>
              <a:rPr sz="2550" b="1" i="0">
                <a:solidFill>
                  <a:srgbClr val="FFFDF7"/>
                </a:solidFill>
              </a:rPr>
              <a:t>6 个业务模块</a:t>
            </a:r>
            <a:endParaRPr sz="2550" b="1" i="0">
              <a:solidFill>
                <a:srgbClr val="FFFDF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8420100"/>
            <a:ext cx="2933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BFD5CE"/>
                </a:solidFill>
              </a:defRPr>
            </a:pPr>
            <a:r>
              <a:rPr sz="1425" b="0" i="0">
                <a:solidFill>
                  <a:srgbClr val="BFD5CE"/>
                </a:solidFill>
              </a:rPr>
              <a:t>已形成试点闭环</a:t>
            </a:r>
            <a:endParaRPr sz="1425" b="0" i="0">
              <a:solidFill>
                <a:srgbClr val="BFD5CE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10100" y="7448550"/>
            <a:ext cx="3429000" cy="1428750"/>
          </a:xfrm>
          <a:prstGeom prst="roundRect">
            <a:avLst>
              <a:gd name="adj" fmla="val 18667"/>
            </a:avLst>
          </a:prstGeom>
          <a:solidFill>
            <a:srgbClr val="173F54"/>
          </a:solidFill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57750" y="7658100"/>
            <a:ext cx="2933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BFD5CE"/>
                </a:solidFill>
              </a:defRPr>
            </a:pPr>
            <a:r>
              <a:rPr sz="1500" b="0" i="0">
                <a:solidFill>
                  <a:srgbClr val="BFD5CE"/>
                </a:solidFill>
              </a:rPr>
              <a:t>近期建议</a:t>
            </a:r>
            <a:endParaRPr sz="1500" b="0" i="0">
              <a:solidFill>
                <a:srgbClr val="BFD5C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57750" y="7962900"/>
            <a:ext cx="2933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FFDF7"/>
                </a:solidFill>
              </a:defRPr>
            </a:pPr>
            <a:r>
              <a:rPr sz="2550" b="1" i="0">
                <a:solidFill>
                  <a:srgbClr val="FFFDF7"/>
                </a:solidFill>
              </a:rPr>
              <a:t>2 周冲刺</a:t>
            </a:r>
            <a:endParaRPr sz="2550" b="1" i="0">
              <a:solidFill>
                <a:srgbClr val="FFFDF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57750" y="8420100"/>
            <a:ext cx="2933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BFD5CE"/>
                </a:solidFill>
              </a:defRPr>
            </a:pPr>
            <a:r>
              <a:rPr sz="1425" b="0" i="0">
                <a:solidFill>
                  <a:srgbClr val="BFD5CE"/>
                </a:solidFill>
              </a:rPr>
              <a:t>低风险高收益</a:t>
            </a:r>
            <a:endParaRPr sz="1425" b="0" i="0">
              <a:solidFill>
                <a:srgbClr val="BFD5C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9201150"/>
            <a:ext cx="20383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6E7E7A"/>
                </a:solidFill>
              </a:defRPr>
            </a:pPr>
            <a:r>
              <a:rPr sz="1200" b="0" i="0">
                <a:solidFill>
                  <a:srgbClr val="6E7E7A"/>
                </a:solidFill>
              </a:rPr>
              <a:t>试点后续规划材料 · 2026-05-10</a:t>
            </a:r>
            <a:endParaRPr sz="1200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2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当前成果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V1 已经不是原型，而是可试点的校务后台闭环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9163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系统已经围绕单校内网、角色权限、师生档案、检查统计和可控导出形成基础能力。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955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817495"/>
            <a:ext cx="5397500" cy="3029903"/>
          </a:xfrm>
          <a:prstGeom prst="roundRect">
            <a:avLst>
              <a:gd name="adj" fmla="val 75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302895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32194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用户权限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63855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系统管理员、校领导、年级管理员、数据管理员、检查员边界清楚。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45250" y="2817495"/>
            <a:ext cx="5397500" cy="3029903"/>
          </a:xfrm>
          <a:prstGeom prst="roundRect">
            <a:avLst>
              <a:gd name="adj" fmla="val 75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86550" y="3028950"/>
            <a:ext cx="685800" cy="57150"/>
          </a:xfrm>
          <a:prstGeom prst="rect">
            <a:avLst/>
          </a:prstGeom>
          <a:solidFill>
            <a:srgbClr val="D8A64A"/>
          </a:solidFill>
          <a:ln w="0">
            <a:solidFill>
              <a:srgbClr val="D8A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86550" y="32194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学校结构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86550" y="363855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年级、班级、部门、学科可维护，届别滚动和往届归档已具备。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2052300" y="2817495"/>
            <a:ext cx="5397500" cy="3029903"/>
          </a:xfrm>
          <a:prstGeom prst="roundRect">
            <a:avLst>
              <a:gd name="adj" fmla="val 75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306300" y="302895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306300" y="32194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师生档案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306300" y="363855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支持动态字段、身份证号匹配导入、筛选、导出和误录修正。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6056948"/>
            <a:ext cx="5397500" cy="3029903"/>
          </a:xfrm>
          <a:prstGeom prst="roundRect">
            <a:avLst>
              <a:gd name="adj" fmla="val 75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6267450"/>
            <a:ext cx="685800" cy="57150"/>
          </a:xfrm>
          <a:prstGeom prst="rect">
            <a:avLst/>
          </a:prstGeom>
          <a:solidFill>
            <a:srgbClr val="2D657F"/>
          </a:solidFill>
          <a:ln w="0">
            <a:solidFill>
              <a:srgbClr val="2D657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85850" y="64579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往届存档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68961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归档学生不混入在校页面，但仍可查询、维护和导出。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445250" y="6056948"/>
            <a:ext cx="5397500" cy="3029903"/>
          </a:xfrm>
          <a:prstGeom prst="roundRect">
            <a:avLst>
              <a:gd name="adj" fmla="val 75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86550" y="626745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686550" y="64579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常规检查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86550" y="68961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学生量化和教师量化已分离，支持项目、录入、查询、修正。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2052300" y="6056948"/>
            <a:ext cx="5397500" cy="3029903"/>
          </a:xfrm>
          <a:prstGeom prst="roundRect">
            <a:avLst>
              <a:gd name="adj" fmla="val 75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306300" y="626745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2306300" y="64579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统计导出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306300" y="68961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支持检查统计、Excel/CSV 导出、权限控制和审计记录。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02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3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成熟系统对标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市场上的 SIS 共同点：先把数据治理和日常工作流做扎实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111442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PowerSchool、Infinite Campus、Blackbaud、openSIS 与 Ed-Fi 能力地图显示，成熟校务系统通常围绕学生主档、考勤、成绩课表、门户沟通、报表和数据标准展开。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8003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3124200"/>
            <a:ext cx="43243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C96A3A"/>
                </a:solidFill>
              </a:defRPr>
            </a:pPr>
            <a:r>
              <a:rPr sz="1650" b="1" i="0">
                <a:solidFill>
                  <a:srgbClr val="C96A3A"/>
                </a:solidFill>
              </a:rPr>
              <a:t>能力域</a:t>
            </a:r>
            <a:endParaRPr sz="1650" b="1" i="0">
              <a:solidFill>
                <a:srgbClr val="C96A3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95900" y="3124200"/>
            <a:ext cx="60007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C96A3A"/>
                </a:solidFill>
              </a:defRPr>
            </a:pPr>
            <a:r>
              <a:rPr sz="1650" b="1" i="0">
                <a:solidFill>
                  <a:srgbClr val="C96A3A"/>
                </a:solidFill>
              </a:rPr>
              <a:t>成熟系统常见做法</a:t>
            </a:r>
            <a:endParaRPr sz="1650" b="1" i="0">
              <a:solidFill>
                <a:srgbClr val="C96A3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449050" y="3124200"/>
            <a:ext cx="60007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C96A3A"/>
                </a:solidFill>
              </a:defRPr>
            </a:pPr>
            <a:r>
              <a:rPr sz="1650" b="1" i="0">
                <a:solidFill>
                  <a:srgbClr val="C96A3A"/>
                </a:solidFill>
              </a:rPr>
              <a:t>对本项目启发</a:t>
            </a:r>
            <a:endParaRPr sz="1650" b="1" i="0">
              <a:solidFill>
                <a:srgbClr val="C96A3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4038600"/>
            <a:ext cx="43243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23447"/>
                </a:solidFill>
              </a:defRPr>
            </a:pPr>
            <a:r>
              <a:rPr sz="1725" b="1" i="0">
                <a:solidFill>
                  <a:srgbClr val="123447"/>
                </a:solidFill>
              </a:rPr>
              <a:t>学生主档</a:t>
            </a:r>
            <a:endParaRPr sz="1725" b="1" i="0">
              <a:solidFill>
                <a:srgbClr val="12344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95900" y="40386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学生基础信息、家庭联系、状态、历史记录集中管理。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49050" y="40386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补齐学生一页通和档案变更历史。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991100"/>
            <a:ext cx="43243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23447"/>
                </a:solidFill>
              </a:defRPr>
            </a:pPr>
            <a:r>
              <a:rPr sz="1725" b="1" i="0">
                <a:solidFill>
                  <a:srgbClr val="123447"/>
                </a:solidFill>
              </a:rPr>
              <a:t>考勤请假</a:t>
            </a:r>
            <a:endParaRPr sz="1725" b="1" i="0">
              <a:solidFill>
                <a:srgbClr val="12344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95900" y="49911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出勤、迟到早退、缺勤、请假和统计。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449050" y="49911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可做轻量版，但和常规检查分开建模。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5924550"/>
            <a:ext cx="43243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23447"/>
                </a:solidFill>
              </a:defRPr>
            </a:pPr>
            <a:r>
              <a:rPr sz="1725" b="1" i="0">
                <a:solidFill>
                  <a:srgbClr val="123447"/>
                </a:solidFill>
              </a:rPr>
              <a:t>报表分析</a:t>
            </a:r>
            <a:endParaRPr sz="1725" b="1" i="0">
              <a:solidFill>
                <a:srgbClr val="12344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95900" y="592455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自定义报表、保存筛选、导出模板、管理看板。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449050" y="592455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V1.5 最贴合现有统计导出架构。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8200" y="6858000"/>
            <a:ext cx="43243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23447"/>
                </a:solidFill>
              </a:defRPr>
            </a:pPr>
            <a:r>
              <a:rPr sz="1725" b="1" i="0">
                <a:solidFill>
                  <a:srgbClr val="123447"/>
                </a:solidFill>
              </a:rPr>
              <a:t>门户沟通</a:t>
            </a:r>
            <a:endParaRPr sz="1725" b="1" i="0">
              <a:solidFill>
                <a:srgbClr val="12344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95900" y="68580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家长/学生门户、公告、移动端触达。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449050" y="68580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先做校内通知与待办，家长端放到 V2。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" y="7810500"/>
            <a:ext cx="43243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123447"/>
                </a:solidFill>
              </a:defRPr>
            </a:pPr>
            <a:r>
              <a:rPr sz="1725" b="1" i="0">
                <a:solidFill>
                  <a:srgbClr val="123447"/>
                </a:solidFill>
              </a:rPr>
              <a:t>数据治理</a:t>
            </a:r>
            <a:endParaRPr sz="1725" b="1" i="0">
              <a:solidFill>
                <a:srgbClr val="12344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95900" y="78105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权限、审计、数据标准、导入校验、接口边界。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449050" y="7810500"/>
            <a:ext cx="60007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355161"/>
                </a:solidFill>
              </a:defRPr>
            </a:pPr>
            <a:r>
              <a:rPr sz="1575" b="0" i="0">
                <a:solidFill>
                  <a:srgbClr val="355161"/>
                </a:solidFill>
              </a:rPr>
              <a:t>强化导入预检、敏感字段和备份健康。</a:t>
            </a:r>
            <a:endParaRPr sz="1575" b="0" i="0">
              <a:solidFill>
                <a:srgbClr val="35516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8200" y="8915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参考：PowerSchool SIS、Infinite Campus SIS、Blackbaud SIS、openSIS、Ed-Fi Data Standard 官方资料。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03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4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差距判断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现在最该补的不是大模块，而是让已建能力更可信、更省事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11887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如果马上进入课表、成绩、门户，会迅速扩大范围；如果先补数据质量和复用型报表，收益更快、风险更低。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955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817495"/>
            <a:ext cx="5359400" cy="4935855"/>
          </a:xfrm>
          <a:prstGeom prst="roundRect">
            <a:avLst>
              <a:gd name="adj" fmla="val 4631"/>
            </a:avLst>
          </a:prstGeom>
          <a:solidFill>
            <a:srgbClr val="FFF7EA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302895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3219450"/>
            <a:ext cx="4857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先解决数据可信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638550"/>
            <a:ext cx="48577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真实 Excel 数据一旦批量写入，最怕重复、错班、缺字段和旧模板污染。导入预检是试点扩大的安全阀。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64300" y="2817495"/>
            <a:ext cx="5359400" cy="4935855"/>
          </a:xfrm>
          <a:prstGeom prst="roundRect">
            <a:avLst>
              <a:gd name="adj" fmla="val 4631"/>
            </a:avLst>
          </a:prstGeom>
          <a:solidFill>
            <a:srgbClr val="F0F5ED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302895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3219450"/>
            <a:ext cx="4857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再减少重复劳动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05600" y="3638550"/>
            <a:ext cx="48577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领导和年级办公室常用的是固定口径名单、月度统计和导出模板，保存筛选能直接省掉重复配置。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2090400" y="2817495"/>
            <a:ext cx="5359400" cy="4935855"/>
          </a:xfrm>
          <a:prstGeom prst="roundRect">
            <a:avLst>
              <a:gd name="adj" fmla="val 4631"/>
            </a:avLst>
          </a:prstGeom>
          <a:solidFill>
            <a:srgbClr val="EEF6FA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344400" y="3028950"/>
            <a:ext cx="685800" cy="57150"/>
          </a:xfrm>
          <a:prstGeom prst="rect">
            <a:avLst/>
          </a:prstGeom>
          <a:solidFill>
            <a:srgbClr val="2D657F"/>
          </a:solidFill>
          <a:ln w="0">
            <a:solidFill>
              <a:srgbClr val="2D657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344400" y="3219450"/>
            <a:ext cx="4857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最后整合管理入口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344400" y="3638550"/>
            <a:ext cx="48577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学生一页通把档案、状态、宿舍和检查摘要集中起来，比新增一堆分散页面更符合日常使用。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8020050"/>
            <a:ext cx="16611600" cy="1066800"/>
          </a:xfrm>
          <a:prstGeom prst="roundRect">
            <a:avLst>
              <a:gd name="adj" fmla="val 23214"/>
            </a:avLst>
          </a:prstGeom>
          <a:solidFill>
            <a:srgbClr val="173F54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23950" y="8229600"/>
            <a:ext cx="16040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FDF7"/>
                </a:solidFill>
              </a:defRPr>
            </a:pPr>
            <a:r>
              <a:rPr sz="2100" b="1" i="0">
                <a:solidFill>
                  <a:srgbClr val="FFFDF7"/>
                </a:solidFill>
              </a:rPr>
              <a:t>建议：V1.5 只做“数据质量 + 常用模板 + 学生一页通 + 轻量考勤方案”，暂不把系统扩成完整教务平台。</a:t>
            </a:r>
            <a:endParaRPr sz="2100" b="1" i="0">
              <a:solidFill>
                <a:srgbClr val="FFFDF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04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5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V1.5 路线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近期只选低风险、高收益、贴合现有架构的改进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7696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V1.5 的目标是让试点更稳、更顺手，而不是一次性吞下完整校务平台。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955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817495"/>
            <a:ext cx="1714500" cy="1066800"/>
          </a:xfrm>
          <a:prstGeom prst="roundRect">
            <a:avLst>
              <a:gd name="adj" fmla="val 17857"/>
            </a:avLst>
          </a:prstGeom>
          <a:solidFill>
            <a:srgbClr val="C96A3A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3009900"/>
            <a:ext cx="1371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P0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686050" y="2817495"/>
            <a:ext cx="49530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914650" y="2990850"/>
            <a:ext cx="4495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23447"/>
                </a:solidFill>
              </a:defRPr>
            </a:pPr>
            <a:r>
              <a:rPr sz="1800" b="1" i="0">
                <a:solidFill>
                  <a:srgbClr val="123447"/>
                </a:solidFill>
              </a:rPr>
              <a:t>数据质量与导入预检</a:t>
            </a:r>
            <a:endParaRPr sz="1800" b="1" i="0">
              <a:solidFill>
                <a:srgbClr val="123447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772400" y="2817495"/>
            <a:ext cx="96774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01000" y="2990850"/>
            <a:ext cx="9220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上传先预检，明确新增、更新、失败、警告；错误行可下载修正。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8200" y="4036695"/>
            <a:ext cx="1714500" cy="1066800"/>
          </a:xfrm>
          <a:prstGeom prst="roundRect">
            <a:avLst>
              <a:gd name="adj" fmla="val 17857"/>
            </a:avLst>
          </a:prstGeom>
          <a:solidFill>
            <a:srgbClr val="5B775A"/>
          </a:solidFill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4229100"/>
            <a:ext cx="1371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P1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686050" y="4036695"/>
            <a:ext cx="49530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14650" y="4210050"/>
            <a:ext cx="4495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23447"/>
                </a:solidFill>
              </a:defRPr>
            </a:pPr>
            <a:r>
              <a:rPr sz="1800" b="1" i="0">
                <a:solidFill>
                  <a:srgbClr val="123447"/>
                </a:solidFill>
              </a:rPr>
              <a:t>常用筛选与导出模板</a:t>
            </a:r>
            <a:endParaRPr sz="1800" b="1" i="0">
              <a:solidFill>
                <a:srgbClr val="123447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772400" y="4036695"/>
            <a:ext cx="96774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01000" y="4210050"/>
            <a:ext cx="9220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保存常用口径、选择导出字段、继续走权限和审计。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5255895"/>
            <a:ext cx="1714500" cy="1066800"/>
          </a:xfrm>
          <a:prstGeom prst="roundRect">
            <a:avLst>
              <a:gd name="adj" fmla="val 17857"/>
            </a:avLst>
          </a:prstGeom>
          <a:solidFill>
            <a:srgbClr val="2D657F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09650" y="5448300"/>
            <a:ext cx="1371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P1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686050" y="5255895"/>
            <a:ext cx="49530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914650" y="5429250"/>
            <a:ext cx="4495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23447"/>
                </a:solidFill>
              </a:defRPr>
            </a:pPr>
            <a:r>
              <a:rPr sz="1800" b="1" i="0">
                <a:solidFill>
                  <a:srgbClr val="123447"/>
                </a:solidFill>
              </a:rPr>
              <a:t>学生一页通</a:t>
            </a:r>
            <a:endParaRPr sz="1800" b="1" i="0">
              <a:solidFill>
                <a:srgbClr val="123447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772400" y="5255895"/>
            <a:ext cx="96774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001000" y="5429250"/>
            <a:ext cx="9220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集中展示学生基础档案、班级/宿舍、状态、近期待处理和检查摘要。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38200" y="6475095"/>
            <a:ext cx="1714500" cy="1066800"/>
          </a:xfrm>
          <a:prstGeom prst="roundRect">
            <a:avLst>
              <a:gd name="adj" fmla="val 17857"/>
            </a:avLst>
          </a:prstGeom>
          <a:solidFill>
            <a:srgbClr val="D8A64A"/>
          </a:solidFill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09650" y="6667500"/>
            <a:ext cx="1371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P2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686050" y="6475095"/>
            <a:ext cx="49530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914650" y="6648450"/>
            <a:ext cx="4495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23447"/>
                </a:solidFill>
              </a:defRPr>
            </a:pPr>
            <a:r>
              <a:rPr sz="1800" b="1" i="0">
                <a:solidFill>
                  <a:srgbClr val="123447"/>
                </a:solidFill>
              </a:rPr>
              <a:t>轻量考勤/请假方案</a:t>
            </a:r>
            <a:endParaRPr sz="1800" b="1" i="0">
              <a:solidFill>
                <a:srgbClr val="123447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772400" y="6475095"/>
            <a:ext cx="96774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001000" y="6648450"/>
            <a:ext cx="9220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先冻结按天/半天/课节口径，不急于做复杂审批和家长端。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38200" y="7694295"/>
            <a:ext cx="1714500" cy="1066800"/>
          </a:xfrm>
          <a:prstGeom prst="roundRect">
            <a:avLst>
              <a:gd name="adj" fmla="val 17857"/>
            </a:avLst>
          </a:prstGeom>
          <a:solidFill>
            <a:srgbClr val="26343A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09650" y="7886700"/>
            <a:ext cx="1371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P2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2686050" y="7694295"/>
            <a:ext cx="49530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914650" y="7867650"/>
            <a:ext cx="4495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123447"/>
                </a:solidFill>
              </a:defRPr>
            </a:pPr>
            <a:r>
              <a:rPr sz="1800" b="1" i="0">
                <a:solidFill>
                  <a:srgbClr val="123447"/>
                </a:solidFill>
              </a:rPr>
              <a:t>通知待办与安全运维</a:t>
            </a:r>
            <a:endParaRPr sz="1800" b="1" i="0">
              <a:solidFill>
                <a:srgbClr val="123447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772400" y="7694295"/>
            <a:ext cx="9677400" cy="1066800"/>
          </a:xfrm>
          <a:prstGeom prst="roundRect">
            <a:avLst>
              <a:gd name="adj" fmla="val 1785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001000" y="7867650"/>
            <a:ext cx="9220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导入失败、备份健康、导出原因、敏感字段脱敏和登录兜底收紧。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05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6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第一轮冲刺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两周内先做最能保护真实数据和减少重复操作的事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推荐把第一轮资源集中在 P0 和 P1，P2 只做方案冻结或低风险检查项。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955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817495"/>
            <a:ext cx="7363778" cy="2429828"/>
          </a:xfrm>
          <a:prstGeom prst="roundRect">
            <a:avLst>
              <a:gd name="adj" fmla="val 9408"/>
            </a:avLst>
          </a:prstGeom>
          <a:solidFill>
            <a:srgbClr val="FFF7EA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302895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3219450"/>
            <a:ext cx="6877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第 1-2 天：范围冻结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638550"/>
            <a:ext cx="6877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确认必填字段、导入是否允许部分成功、模板共享范围，并更新 PRD 与实施计划。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449628" y="2817495"/>
            <a:ext cx="9000173" cy="2429828"/>
          </a:xfrm>
          <a:prstGeom prst="roundRect">
            <a:avLst>
              <a:gd name="adj" fmla="val 9408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05850" y="302895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05850" y="3219450"/>
            <a:ext cx="8496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第 3-5 天：导入预检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05850" y="3638550"/>
            <a:ext cx="849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覆盖身份证重复、缺字段、非法班级、旧模板字段和权限边界。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38200" y="5475923"/>
            <a:ext cx="7363778" cy="2429828"/>
          </a:xfrm>
          <a:prstGeom prst="roundRect">
            <a:avLst>
              <a:gd name="adj" fmla="val 9408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85850" y="567690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85850" y="5867400"/>
            <a:ext cx="6877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第 6-7 天：常用模板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6305550"/>
            <a:ext cx="6877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保存筛选条件、字段显示开关、常用导出模板、角色内复用。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449628" y="5475923"/>
            <a:ext cx="9000173" cy="2429828"/>
          </a:xfrm>
          <a:prstGeom prst="roundRect">
            <a:avLst>
              <a:gd name="adj" fmla="val 9408"/>
            </a:avLst>
          </a:prstGeom>
          <a:solidFill>
            <a:srgbClr val="EEF6FA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05850" y="5676900"/>
            <a:ext cx="685800" cy="57150"/>
          </a:xfrm>
          <a:prstGeom prst="rect">
            <a:avLst/>
          </a:prstGeom>
          <a:solidFill>
            <a:srgbClr val="2D657F"/>
          </a:solidFill>
          <a:ln w="0">
            <a:solidFill>
              <a:srgbClr val="2D657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05850" y="5867400"/>
            <a:ext cx="8496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第 8-10 天：学生一页通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05850" y="6305550"/>
            <a:ext cx="8496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从学生快查和师生档案进入详情页，聚合档案、状态和近期检查摘要。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38200" y="8172450"/>
            <a:ext cx="16611600" cy="914400"/>
          </a:xfrm>
          <a:prstGeom prst="roundRect">
            <a:avLst>
              <a:gd name="adj" fmla="val 25000"/>
            </a:avLst>
          </a:prstGeom>
          <a:solidFill>
            <a:srgbClr val="FFFDF7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04900" y="8362950"/>
            <a:ext cx="16078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第 11-14 天用于轻量考勤方案、安全运维检查、静态验证、关键页面烟测和操作文档更新。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06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7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V2 路线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中长期扩展可以更大，但必须逐项立项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65913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V2 面向完整校务平台，不建议在当前 V1.5 冲刺里混入开发。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8003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3114675"/>
            <a:ext cx="5384800" cy="2871788"/>
          </a:xfrm>
          <a:prstGeom prst="roundRect">
            <a:avLst>
              <a:gd name="adj" fmla="val 7960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3333750"/>
            <a:ext cx="685800" cy="57150"/>
          </a:xfrm>
          <a:prstGeom prst="rect">
            <a:avLst/>
          </a:prstGeom>
          <a:solidFill>
            <a:srgbClr val="2D657F"/>
          </a:solidFill>
          <a:ln w="0">
            <a:solidFill>
              <a:srgbClr val="2D657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35242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教务课表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943350"/>
            <a:ext cx="4895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课程、任课关系、班级课表、教师课表、调课记录。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51600" y="3114675"/>
            <a:ext cx="5384800" cy="2871788"/>
          </a:xfrm>
          <a:prstGeom prst="roundRect">
            <a:avLst>
              <a:gd name="adj" fmla="val 7960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333375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35242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考试成绩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05600" y="394335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考试批次、成绩导入、成绩分析、成绩单和年级统计。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2065000" y="3114675"/>
            <a:ext cx="5384800" cy="2871788"/>
          </a:xfrm>
          <a:prstGeom prst="roundRect">
            <a:avLst>
              <a:gd name="adj" fmla="val 7960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306300" y="333375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306300" y="35242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德育成长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306300" y="394335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奖惩记录、重点学生跟踪、班级量化趋势和成长档案。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6215063"/>
            <a:ext cx="5384800" cy="2871788"/>
          </a:xfrm>
          <a:prstGeom prst="roundRect">
            <a:avLst>
              <a:gd name="adj" fmla="val 7960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6419850"/>
            <a:ext cx="685800" cy="57150"/>
          </a:xfrm>
          <a:prstGeom prst="rect">
            <a:avLst/>
          </a:prstGeom>
          <a:solidFill>
            <a:srgbClr val="D8A64A"/>
          </a:solidFill>
          <a:ln w="0">
            <a:solidFill>
              <a:srgbClr val="D8A6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85850" y="66103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宿舍生活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70485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宿舍楼、寝室、床位、晚寝检查、住宿生名单和宿舍量化。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451600" y="6215063"/>
            <a:ext cx="5384800" cy="2871788"/>
          </a:xfrm>
          <a:prstGeom prst="roundRect">
            <a:avLst>
              <a:gd name="adj" fmla="val 7960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05600" y="6419850"/>
            <a:ext cx="685800" cy="57150"/>
          </a:xfrm>
          <a:prstGeom prst="rect">
            <a:avLst/>
          </a:prstGeom>
          <a:solidFill>
            <a:srgbClr val="2D657F"/>
          </a:solidFill>
          <a:ln w="0">
            <a:solidFill>
              <a:srgbClr val="2D657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705600" y="66103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招生分班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705600" y="7048500"/>
            <a:ext cx="4895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新生登记、材料收集、预分班、正式分班和入学档案转正。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2065000" y="6215063"/>
            <a:ext cx="5384800" cy="2871788"/>
          </a:xfrm>
          <a:prstGeom prst="roundRect">
            <a:avLst>
              <a:gd name="adj" fmla="val 7960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306300" y="6419850"/>
            <a:ext cx="685800" cy="57150"/>
          </a:xfrm>
          <a:prstGeom prst="rect">
            <a:avLst/>
          </a:prstGeom>
          <a:solidFill>
            <a:srgbClr val="26343A"/>
          </a:solidFill>
          <a:ln w="0">
            <a:solidFill>
              <a:srgbClr val="26343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2306300" y="6610350"/>
            <a:ext cx="4895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家校/学生端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306300" y="7048500"/>
            <a:ext cx="4895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公告、考勤、成绩、消息通知和受控外部访问。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07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8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暂缓清单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暂缓不是否定价值，而是避免当前阶段失焦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这些方向会把系统推向平台级建设，当前单校试点阶段不宜抢先进入。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955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817495"/>
            <a:ext cx="8191500" cy="1962785"/>
          </a:xfrm>
          <a:prstGeom prst="roundRect">
            <a:avLst>
              <a:gd name="adj" fmla="val 11647"/>
            </a:avLst>
          </a:prstGeom>
          <a:solidFill>
            <a:srgbClr val="FFF7EA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302895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3219450"/>
            <a:ext cx="7696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财务缴费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638550"/>
            <a:ext cx="7696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涉及支付、票据、对账和财务制度，应等学校明确财务负责人和流程。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258300" y="2817495"/>
            <a:ext cx="8191500" cy="1962785"/>
          </a:xfrm>
          <a:prstGeom prst="roundRect">
            <a:avLst>
              <a:gd name="adj" fmla="val 1164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505950" y="3028950"/>
            <a:ext cx="685800" cy="57150"/>
          </a:xfrm>
          <a:prstGeom prst="rect">
            <a:avLst/>
          </a:prstGeom>
          <a:solidFill>
            <a:srgbClr val="6E7E7A"/>
          </a:solidFill>
          <a:ln w="0">
            <a:solidFill>
              <a:srgbClr val="6E7E7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05950" y="3219450"/>
            <a:ext cx="7696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资产管理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05950" y="3638550"/>
            <a:ext cx="7696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与当前师生档案和检查闭环关联弱，除非资产台账痛点明确。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38200" y="4970780"/>
            <a:ext cx="8191500" cy="1962785"/>
          </a:xfrm>
          <a:prstGeom prst="roundRect">
            <a:avLst>
              <a:gd name="adj" fmla="val 1164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85850" y="5181600"/>
            <a:ext cx="685800" cy="57150"/>
          </a:xfrm>
          <a:prstGeom prst="rect">
            <a:avLst/>
          </a:prstGeom>
          <a:solidFill>
            <a:srgbClr val="D8A64A"/>
          </a:solidFill>
          <a:ln w="0">
            <a:solidFill>
              <a:srgbClr val="D8A6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85850" y="5372100"/>
            <a:ext cx="7696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食堂管理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5810250"/>
            <a:ext cx="7696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通常需要刷卡、消费、供应商或硬件系统对接，先不碰硬件链路。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258300" y="4970780"/>
            <a:ext cx="8191500" cy="1962785"/>
          </a:xfrm>
          <a:prstGeom prst="roundRect">
            <a:avLst>
              <a:gd name="adj" fmla="val 1164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505950" y="5181600"/>
            <a:ext cx="685800" cy="57150"/>
          </a:xfrm>
          <a:prstGeom prst="rect">
            <a:avLst/>
          </a:prstGeom>
          <a:solidFill>
            <a:srgbClr val="2D657F"/>
          </a:solidFill>
          <a:ln w="0">
            <a:solidFill>
              <a:srgbClr val="2D657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505950" y="5372100"/>
            <a:ext cx="7696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复杂 LMS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05950" y="5810250"/>
            <a:ext cx="7696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课程资源、作业、在线学习会变成教学平台，不是当前校务后台重点。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38200" y="7124065"/>
            <a:ext cx="8191500" cy="1962785"/>
          </a:xfrm>
          <a:prstGeom prst="roundRect">
            <a:avLst>
              <a:gd name="adj" fmla="val 11647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7334250"/>
            <a:ext cx="685800" cy="57150"/>
          </a:xfrm>
          <a:prstGeom prst="rect">
            <a:avLst/>
          </a:prstGeom>
          <a:solidFill>
            <a:srgbClr val="26343A"/>
          </a:solidFill>
          <a:ln w="0">
            <a:solidFill>
              <a:srgbClr val="26343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85850" y="7524750"/>
            <a:ext cx="7696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多校 SaaS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85850" y="7962900"/>
            <a:ext cx="7696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当前定位是单校内网私有部署，多校会带来租户隔离和运维成本。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258300" y="7124065"/>
            <a:ext cx="8191500" cy="1962785"/>
          </a:xfrm>
          <a:prstGeom prst="roundRect">
            <a:avLst>
              <a:gd name="adj" fmla="val 11647"/>
            </a:avLst>
          </a:prstGeom>
          <a:solidFill>
            <a:srgbClr val="F0F5ED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505950" y="733425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05950" y="7524750"/>
            <a:ext cx="7696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重型 AI 分析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505950" y="7962900"/>
            <a:ext cx="7696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应等数据质量、报表口径和权限审计稳定后再评估。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08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9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两周计划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近期工作可以按四个节奏推进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91630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每一步都服务于真实试点：先保护数据，再提升效率，再整合入口，最后控制风险。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955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817495"/>
            <a:ext cx="2857500" cy="819150"/>
          </a:xfrm>
          <a:prstGeom prst="roundRect">
            <a:avLst>
              <a:gd name="adj" fmla="val 25581"/>
            </a:avLst>
          </a:prstGeom>
          <a:solidFill>
            <a:srgbClr val="C96A3A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3009900"/>
            <a:ext cx="2476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第 1-2 天</a:t>
            </a:r>
            <a:endParaRPr sz="1950" b="1" i="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924300" y="2819400"/>
            <a:ext cx="13525500" cy="1447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123447"/>
                </a:solidFill>
              </a:defRPr>
            </a:pPr>
            <a:r>
              <a:rPr sz="2025" b="1" i="0">
                <a:solidFill>
                  <a:srgbClr val="123447"/>
                </a:solidFill>
              </a:rPr>
              <a:t>冻结范围：确认必填字段、导入策略、模板共享范围，更新 PRD 和实施计划。</a:t>
            </a:r>
            <a:endParaRPr sz="2025" b="1" i="0">
              <a:solidFill>
                <a:srgbClr val="123447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8200" y="4427696"/>
            <a:ext cx="2857500" cy="819150"/>
          </a:xfrm>
          <a:prstGeom prst="roundRect">
            <a:avLst>
              <a:gd name="adj" fmla="val 25581"/>
            </a:avLst>
          </a:prstGeom>
          <a:solidFill>
            <a:srgbClr val="5B775A"/>
          </a:solidFill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4610100"/>
            <a:ext cx="2476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第 3-7 天</a:t>
            </a:r>
            <a:endParaRPr sz="1950" b="1" i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24300" y="4419600"/>
            <a:ext cx="13525500" cy="1447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123447"/>
                </a:solidFill>
              </a:defRPr>
            </a:pPr>
            <a:r>
              <a:rPr sz="2025" b="1" i="0">
                <a:solidFill>
                  <a:srgbClr val="123447"/>
                </a:solidFill>
              </a:rPr>
              <a:t>建设 P0/P1：导入预检、错误行修复、保存筛选、字段显示和常用导出模板。</a:t>
            </a:r>
            <a:endParaRPr sz="2025" b="1" i="0">
              <a:solidFill>
                <a:srgbClr val="12344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8200" y="6037898"/>
            <a:ext cx="2857500" cy="819150"/>
          </a:xfrm>
          <a:prstGeom prst="roundRect">
            <a:avLst>
              <a:gd name="adj" fmla="val 25581"/>
            </a:avLst>
          </a:prstGeom>
          <a:solidFill>
            <a:srgbClr val="2D657F"/>
          </a:solidFill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28700" y="6229350"/>
            <a:ext cx="2476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第 8-10 天</a:t>
            </a:r>
            <a:endParaRPr sz="1950" b="1" i="0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924300" y="6038850"/>
            <a:ext cx="13525500" cy="1447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123447"/>
                </a:solidFill>
              </a:defRPr>
            </a:pPr>
            <a:r>
              <a:rPr sz="2025" b="1" i="0">
                <a:solidFill>
                  <a:srgbClr val="123447"/>
                </a:solidFill>
              </a:rPr>
              <a:t>建设学生一页通：从快查和档案进入详情，集中展示基础信息、状态和近期检查。</a:t>
            </a:r>
            <a:endParaRPr sz="2025" b="1" i="0">
              <a:solidFill>
                <a:srgbClr val="123447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38200" y="7648099"/>
            <a:ext cx="2857500" cy="819150"/>
          </a:xfrm>
          <a:prstGeom prst="roundRect">
            <a:avLst>
              <a:gd name="adj" fmla="val 25581"/>
            </a:avLst>
          </a:prstGeom>
          <a:solidFill>
            <a:srgbClr val="26343A"/>
          </a:solidFill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28700" y="7829550"/>
            <a:ext cx="2476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第 11-14 天</a:t>
            </a:r>
            <a:endParaRPr sz="1950" b="1" i="0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24300" y="7639050"/>
            <a:ext cx="13525500" cy="1447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123447"/>
                </a:solidFill>
              </a:defRPr>
            </a:pPr>
            <a:r>
              <a:rPr sz="2025" b="1" i="0">
                <a:solidFill>
                  <a:srgbClr val="123447"/>
                </a:solidFill>
              </a:rPr>
              <a:t>验证交付：轻量考勤方案、安全运维检查、静态构建、页面烟测和操作文档更新。</a:t>
            </a:r>
            <a:endParaRPr sz="2025" b="1" i="0">
              <a:solidFill>
                <a:srgbClr val="12344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09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10-bg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1E6"/>
          </a:solidFill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838200" y="609600"/>
            <a:ext cx="2476500" cy="419100"/>
          </a:xfrm>
          <a:prstGeom prst="roundRect">
            <a:avLst>
              <a:gd name="adj" fmla="val 50000"/>
            </a:avLst>
          </a:prstGeom>
          <a:solidFill>
            <a:srgbClr val="C96A3A"/>
          </a:solidFill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723900"/>
            <a:ext cx="2133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建议决策</a:t>
            </a:r>
            <a:endParaRPr sz="1350" b="1" i="0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592550" y="72390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E7E7A"/>
                </a:solidFill>
              </a:defRPr>
            </a:pPr>
            <a:r>
              <a:rPr sz="1350" b="0" i="0">
                <a:solidFill>
                  <a:srgbClr val="6E7E7A"/>
                </a:solidFill>
              </a:rPr>
              <a:t>领导决策版</a:t>
            </a:r>
            <a:endParaRPr sz="1350" b="0" i="0">
              <a:solidFill>
                <a:srgbClr val="6E7E7A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838200" y="1200150"/>
            <a:ext cx="16611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23447"/>
                </a:solidFill>
              </a:defRPr>
            </a:pPr>
            <a:r>
              <a:rPr sz="4350" b="1" i="0">
                <a:solidFill>
                  <a:srgbClr val="123447"/>
                </a:solidFill>
              </a:rPr>
              <a:t>批准 V1.5 小步迭代，暂不扩成大平台</a:t>
            </a:r>
            <a:endParaRPr sz="4350" b="1" i="0">
              <a:solidFill>
                <a:srgbClr val="123447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838200" y="2038350"/>
            <a:ext cx="9906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355161"/>
                </a:solidFill>
              </a:defRPr>
            </a:pPr>
            <a:r>
              <a:rPr sz="1950" b="0" i="0">
                <a:solidFill>
                  <a:srgbClr val="355161"/>
                </a:solidFill>
              </a:rPr>
              <a:t>这样能在试点风险可控的前提下，让学校尽快看到数据质量、统计效率和管理入口的改善。</a:t>
            </a:r>
            <a:endParaRPr sz="1950" b="0" i="0">
              <a:solidFill>
                <a:srgbClr val="3551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95550"/>
            <a:ext cx="2286000" cy="47625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819400"/>
            <a:ext cx="8153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C96A3A"/>
                </a:solidFill>
              </a:defRPr>
            </a:pPr>
            <a:r>
              <a:rPr sz="2250" b="1" i="0">
                <a:solidFill>
                  <a:srgbClr val="C96A3A"/>
                </a:solidFill>
              </a:rPr>
              <a:t>建议批准</a:t>
            </a:r>
            <a:endParaRPr sz="2250" b="1" i="0">
              <a:solidFill>
                <a:srgbClr val="C96A3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38200" y="3369945"/>
            <a:ext cx="8153400" cy="1765935"/>
          </a:xfrm>
          <a:prstGeom prst="roundRect">
            <a:avLst>
              <a:gd name="adj" fmla="val 12945"/>
            </a:avLst>
          </a:prstGeom>
          <a:solidFill>
            <a:srgbClr val="FFF7EA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358140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7719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1. 先做 V1.5 第一轮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4191000"/>
            <a:ext cx="7658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范围锁定在数据质量、导入预检、常用模板、学生一页通。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8200" y="5345430"/>
            <a:ext cx="8153400" cy="1765935"/>
          </a:xfrm>
          <a:prstGeom prst="roundRect">
            <a:avLst>
              <a:gd name="adj" fmla="val 129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85850" y="556260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85850" y="57531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2. 继续单校私有部署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85850" y="6172200"/>
            <a:ext cx="7658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保留当前低运维、数据本机化和权限审计路线。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38200" y="7320915"/>
            <a:ext cx="8153400" cy="1765935"/>
          </a:xfrm>
          <a:prstGeom prst="roundRect">
            <a:avLst>
              <a:gd name="adj" fmla="val 129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85850" y="7524750"/>
            <a:ext cx="685800" cy="57150"/>
          </a:xfrm>
          <a:prstGeom prst="rect">
            <a:avLst/>
          </a:prstGeom>
          <a:solidFill>
            <a:srgbClr val="2D657F"/>
          </a:solidFill>
          <a:ln w="0">
            <a:solidFill>
              <a:srgbClr val="2D657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771525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3. V2 单独立项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85850" y="8153400"/>
            <a:ext cx="7658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课表、成绩、家校端等价值高但范围大，后续逐项审批。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96400" y="2819400"/>
            <a:ext cx="8153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2D657F"/>
                </a:solidFill>
              </a:defRPr>
            </a:pPr>
            <a:r>
              <a:rPr sz="2250" b="1" i="0">
                <a:solidFill>
                  <a:srgbClr val="2D657F"/>
                </a:solidFill>
              </a:rPr>
              <a:t>风险控制</a:t>
            </a:r>
            <a:endParaRPr sz="2250" b="1" i="0">
              <a:solidFill>
                <a:srgbClr val="2D657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296400" y="3369945"/>
            <a:ext cx="8153400" cy="1765935"/>
          </a:xfrm>
          <a:prstGeom prst="roundRect">
            <a:avLst>
              <a:gd name="adj" fmla="val 129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544050" y="3581400"/>
            <a:ext cx="685800" cy="57150"/>
          </a:xfrm>
          <a:prstGeom prst="rect">
            <a:avLst/>
          </a:prstGeom>
          <a:solidFill>
            <a:srgbClr val="26343A"/>
          </a:solidFill>
          <a:ln w="0">
            <a:solidFill>
              <a:srgbClr val="26343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544050" y="37719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范围控制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44050" y="4191000"/>
            <a:ext cx="7658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任何 V1.5 功能进入开发前先更新 PRD 和验收标准。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296400" y="5345430"/>
            <a:ext cx="8153400" cy="1765935"/>
          </a:xfrm>
          <a:prstGeom prst="roundRect">
            <a:avLst>
              <a:gd name="adj" fmla="val 12945"/>
            </a:avLst>
          </a:prstGeom>
          <a:solidFill>
            <a:srgbClr val="FFFDF7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44050" y="5562600"/>
            <a:ext cx="685800" cy="57150"/>
          </a:xfrm>
          <a:prstGeom prst="rect">
            <a:avLst/>
          </a:prstGeom>
          <a:solidFill>
            <a:srgbClr val="C96A3A"/>
          </a:solidFill>
          <a:ln w="0">
            <a:solidFill>
              <a:srgbClr val="C96A3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544050" y="575310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数据安全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44050" y="6172200"/>
            <a:ext cx="7658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导出继续权限控制和审计，敏感字段、导出原因、备份健康纳入检查。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296400" y="7320915"/>
            <a:ext cx="8153400" cy="1765935"/>
          </a:xfrm>
          <a:prstGeom prst="roundRect">
            <a:avLst>
              <a:gd name="adj" fmla="val 12945"/>
            </a:avLst>
          </a:prstGeom>
          <a:solidFill>
            <a:srgbClr val="F0F5ED"/>
          </a:solidFill>
          <a:ln w="9525">
            <a:solidFill>
              <a:srgbClr val="E7DDC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544050" y="7524750"/>
            <a:ext cx="685800" cy="57150"/>
          </a:xfrm>
          <a:prstGeom prst="rect">
            <a:avLst/>
          </a:prstGeom>
          <a:solidFill>
            <a:srgbClr val="5B775A"/>
          </a:solidFill>
          <a:ln w="0">
            <a:solidFill>
              <a:srgbClr val="5B775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44050" y="7715250"/>
            <a:ext cx="76581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 i="0">
                <a:solidFill>
                  <a:srgbClr val="123447"/>
                </a:solidFill>
              </a:defRPr>
            </a:pPr>
            <a:r>
              <a:rPr sz="1950" b="1" i="0">
                <a:solidFill>
                  <a:srgbClr val="123447"/>
                </a:solidFill>
              </a:rPr>
              <a:t>交付节奏</a:t>
            </a:r>
            <a:endParaRPr sz="1950" b="1" i="0">
              <a:solidFill>
                <a:srgbClr val="12344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544050" y="8153400"/>
            <a:ext cx="7658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355161"/>
                </a:solidFill>
              </a:defRPr>
            </a:pPr>
            <a:r>
              <a:rPr sz="1650" b="0" i="0">
                <a:solidFill>
                  <a:srgbClr val="355161"/>
                </a:solidFill>
              </a:rPr>
              <a:t>每个小步完成后运行 typecheck、lint、build，并更新进度和架构记录。</a:t>
            </a:r>
            <a:endParaRPr sz="1650" b="0" i="0">
              <a:solidFill>
                <a:srgbClr val="355161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8200" y="94297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校务系统下一阶段建设建议稿</a:t>
            </a:r>
            <a:endParaRPr sz="1125" b="0" i="0">
              <a:solidFill>
                <a:srgbClr val="6E7E7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6535400" y="9353550"/>
            <a:ext cx="91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E7E7A"/>
                </a:solidFill>
              </a:defRPr>
            </a:pPr>
            <a:r>
              <a:rPr sz="1125" b="0" i="0">
                <a:solidFill>
                  <a:srgbClr val="6E7E7A"/>
                </a:solidFill>
              </a:rPr>
              <a:t>2026-05-10 · 10</a:t>
            </a:r>
            <a:endParaRPr sz="1125" b="0" i="0">
              <a:solidFill>
                <a:srgbClr val="6E7E7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2925</Words>
  <Application>WPS 演示</Application>
  <PresentationFormat>Converted Presentation</PresentationFormat>
  <Paragraphs>348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崇志</cp:lastModifiedBy>
  <cp:revision>1</cp:revision>
  <dcterms:created xsi:type="dcterms:W3CDTF">2026-05-10T09:44:41Z</dcterms:created>
  <dcterms:modified xsi:type="dcterms:W3CDTF">2026-05-10T09:44:41Z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276FBB41A8774B0284C6D1538F1D9227_12</vt:lpwstr>
  </property>
  <property fmtid="{D5CDD505-2E9C-101B-9397-08002B2CF9AE}" pid="3" name="KSOProductBuildVer">
    <vt:lpwstr>2052-12.1.0.25865</vt:lpwstr>
  </property>
</Properties>
</file>